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29"/>
  </p:notesMasterIdLst>
  <p:handoutMasterIdLst>
    <p:handoutMasterId r:id="rId30"/>
  </p:handoutMasterIdLst>
  <p:sldIdLst>
    <p:sldId id="420" r:id="rId2"/>
    <p:sldId id="293" r:id="rId3"/>
    <p:sldId id="826" r:id="rId4"/>
    <p:sldId id="824" r:id="rId5"/>
    <p:sldId id="455" r:id="rId6"/>
    <p:sldId id="457" r:id="rId7"/>
    <p:sldId id="462" r:id="rId8"/>
    <p:sldId id="463" r:id="rId9"/>
    <p:sldId id="464" r:id="rId10"/>
    <p:sldId id="458" r:id="rId11"/>
    <p:sldId id="459" r:id="rId12"/>
    <p:sldId id="466" r:id="rId13"/>
    <p:sldId id="467" r:id="rId14"/>
    <p:sldId id="468" r:id="rId15"/>
    <p:sldId id="828" r:id="rId16"/>
    <p:sldId id="830" r:id="rId17"/>
    <p:sldId id="831" r:id="rId18"/>
    <p:sldId id="257" r:id="rId19"/>
    <p:sldId id="829" r:id="rId20"/>
    <p:sldId id="832" r:id="rId21"/>
    <p:sldId id="260" r:id="rId22"/>
    <p:sldId id="261" r:id="rId23"/>
    <p:sldId id="262" r:id="rId24"/>
    <p:sldId id="834" r:id="rId25"/>
    <p:sldId id="268" r:id="rId26"/>
    <p:sldId id="825" r:id="rId27"/>
    <p:sldId id="833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FFFE2B"/>
    <a:srgbClr val="FF8B16"/>
    <a:srgbClr val="790D9B"/>
    <a:srgbClr val="6108AA"/>
    <a:srgbClr val="D8D8D8"/>
    <a:srgbClr val="49875B"/>
    <a:srgbClr val="132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54D82-DD15-480C-9AAD-FAFF641BE3F9}" v="1818" dt="2024-08-19T00:38:29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5"/>
    <p:restoredTop sz="82468" autoAdjust="0"/>
  </p:normalViewPr>
  <p:slideViewPr>
    <p:cSldViewPr>
      <p:cViewPr varScale="1">
        <p:scale>
          <a:sx n="67" d="100"/>
          <a:sy n="67" d="100"/>
        </p:scale>
        <p:origin x="12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6E26AC7-654B-4C40-A1CE-EDF3FACDD001}" type="datetimeFigureOut">
              <a:rPr lang="en-US"/>
              <a:pPr>
                <a:defRPr/>
              </a:pPr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E69691-4DA6-CF42-B899-5AAB777102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9431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CDF2A05-3247-714D-A0F1-CA087F7798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3991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science/relativity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universetoday.com/articles/einsteins-theory-of-relativity-1" TargetMode="External"/><Relationship Id="rId5" Type="http://schemas.openxmlformats.org/officeDocument/2006/relationships/hyperlink" Target="https://www.youtube.com/shorts/W_UinQfxvtM" TargetMode="External"/><Relationship Id="rId4" Type="http://schemas.openxmlformats.org/officeDocument/2006/relationships/hyperlink" Target="https://www.space.com/36273-theory-special-relativity.html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174F6EEF-97F3-49DD-8F54-6B9B762B6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9CEA7C-F57D-416F-8EF4-9E5236E47CD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E5247D3-AAE2-4A7A-A9F1-302643CE9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E07CC28-3BD6-4264-A56A-B444F218F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/>
              <a:t>~Real</a:t>
            </a:r>
            <a:r>
              <a:rPr lang="en-US" baseline="0" dirty="0"/>
              <a:t> life </a:t>
            </a:r>
            <a:r>
              <a:rPr lang="en-US" baseline="0" dirty="0" err="1"/>
              <a:t>pokeman</a:t>
            </a:r>
            <a:endParaRPr lang="en-US" dirty="0"/>
          </a:p>
          <a:p>
            <a:r>
              <a:rPr lang="en-US" dirty="0"/>
              <a:t>~Species of blue sea</a:t>
            </a:r>
            <a:r>
              <a:rPr lang="en-US" baseline="0" dirty="0"/>
              <a:t> slug</a:t>
            </a:r>
          </a:p>
          <a:p>
            <a:r>
              <a:rPr lang="en-US" baseline="0" dirty="0"/>
              <a:t>~Found in warm water areas of the ocean</a:t>
            </a:r>
          </a:p>
          <a:p>
            <a:r>
              <a:rPr lang="en-US" baseline="0" dirty="0"/>
              <a:t>~Floats on the surface of the water by using gas filled air sacks</a:t>
            </a:r>
          </a:p>
          <a:p>
            <a:r>
              <a:rPr lang="en-US" baseline="0" dirty="0"/>
              <a:t>~Blue color faces up blends in with ocean from above; silver color faces down and blends in with ocean surface from below</a:t>
            </a:r>
          </a:p>
          <a:p>
            <a:r>
              <a:rPr lang="en-US" baseline="0" dirty="0"/>
              <a:t>~Eats poisonous floating creatures and stores it for its own defense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174F6EEF-97F3-49DD-8F54-6B9B762B6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9CEA7C-F57D-416F-8EF4-9E5236E47CD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E5247D3-AAE2-4A7A-A9F1-302643CE9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E07CC28-3BD6-4264-A56A-B444F218F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8320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A52F165-1D9D-487D-9B41-94ED276C8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75230A-DE59-4BF6-8D43-723DAAF62AF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E9622D86-323F-45C4-8E8A-58A9A6BB4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3AAB051-4E46-421D-B8CF-C15C35509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757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4A52F165-1D9D-487D-9B41-94ED276C8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75230A-DE59-4BF6-8D43-723DAAF62AF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E9622D86-323F-45C4-8E8A-58A9A6BB4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3AAB051-4E46-421D-B8CF-C15C35509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Latin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scientia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 - knowledge 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Different ways to label sciences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	Natural Sciences = Life sciences and physical sciences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	Hard sciences vs soft sciences </a:t>
            </a: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	Basic or theoretical science vs. Applied science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2256F84-4011-4D36-884D-E933D69CC5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40EFA2-8882-4F33-8E4E-B736BFD29E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D1AE5C3-A59A-497F-8B7A-5399028B61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F42C398-0FE5-43AA-B6AD-B31CC1164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92B7CE8A-B770-4829-8DCE-10E17E379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826A5-B260-4E79-B860-E147DC4582A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82158C4-837A-4322-A9D3-4086D2B7F9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5443642-1C12-45E6-982A-0B8D5FE32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F25E7D73-D527-4BD1-9FAB-4932B979D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157E2E-E063-4C91-BF05-91907586F12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11B42B8F-E20D-43C7-907E-966FADDE5C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631ECF1-A6EF-44D6-A650-B6C7BA9DE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78DC9AB0-0067-413F-97B9-8DC6D472A0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1BB991-C11E-44C9-AE64-F660221D8B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27198389-7736-4F1F-833D-81026087E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6B3B69A-F88E-42F8-804C-F39DE7B80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16BC3A73-822A-47C2-8CE9-66FBC22C53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94B37D-893E-443A-A73F-A82DD5DC71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1324FB6-C92E-4729-9A01-FE087791D2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8E115EA-2C41-4ED5-BE67-81C52A6A6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2B9C2A6B-837F-4B22-9063-FCEAEA7450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557A58-522E-46D4-9E52-FF57E7435A4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88BF4898-F85D-4F01-8BB7-E102600F4D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28EDEAE-3BCC-4AA6-A22C-99893C4D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31325AB-F634-034B-A538-93851DE84F4A}" type="slidenum">
              <a:rPr lang="en-US" sz="1200">
                <a:solidFill>
                  <a:srgbClr val="000000"/>
                </a:solidFill>
              </a:rPr>
              <a:pPr/>
              <a:t>15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Room is hot why? Forgot to tourn on AC or Power outage</a:t>
            </a:r>
          </a:p>
        </p:txBody>
      </p:sp>
    </p:spTree>
    <p:extLst>
      <p:ext uri="{BB962C8B-B14F-4D97-AF65-F5344CB8AC3E}">
        <p14:creationId xmlns:p14="http://schemas.microsoft.com/office/powerpoint/2010/main" val="2836344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31325AB-F634-034B-A538-93851DE84F4A}" type="slidenum">
              <a:rPr lang="en-US" sz="1200">
                <a:solidFill>
                  <a:srgbClr val="000000"/>
                </a:solidFill>
              </a:rPr>
              <a:pPr/>
              <a:t>16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Incorporeal - </a:t>
            </a:r>
            <a:r>
              <a:rPr lang="en-US" dirty="0"/>
              <a:t>not composed of matter; having no material existence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17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31325AB-F634-034B-A538-93851DE84F4A}" type="slidenum">
              <a:rPr lang="en-US" sz="1200">
                <a:solidFill>
                  <a:srgbClr val="000000"/>
                </a:solidFill>
              </a:rPr>
              <a:pPr/>
              <a:t>17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531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691EFA4-B406-474B-BB1F-FA1E11DDF19F}" type="slidenum">
              <a:rPr lang="en-US" sz="1200">
                <a:solidFill>
                  <a:srgbClr val="000000"/>
                </a:solidFill>
              </a:rPr>
              <a:pPr/>
              <a:t>18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Special Relativity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Constant Light Speed: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The speed of light in a vacuum is always the same for everyone, no matter how fast you move.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Time Dilation: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The faster you move through space, the slower time moves for you compared to someone staying still.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Mass and Energy: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Energy and mass are the same thing in different forms, written as the famous equation E = mc².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  <a:hlinkClick r:id="rId3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  <a:hlinkClick r:id="rId4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  <a:hlinkClick r:id="rId5"/>
              </a:rPr>
              <a:t>3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  <a:hlinkClick r:id="rId6"/>
              </a:rPr>
              <a:t>4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]</a:t>
            </a:r>
          </a:p>
          <a:p>
            <a:endParaRPr lang="en-US" sz="1200" b="1" u="none" strike="noStrike" kern="1200" dirty="0"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General Relativity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Gravity as Curvature: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Heavy objects like stars and planets warp and bend the fabric of space and time (called spacetime).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The Path of Objects: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Gravity is not an invisible pulling force. Instead, it is objects rolling along the curves created by heavy things in space.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Bending Light: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Heavy masses can bend the path of light because they bend space itself.</a:t>
            </a: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691EFA4-B406-474B-BB1F-FA1E11DDF19F}" type="slidenum">
              <a:rPr lang="en-US" sz="1200">
                <a:solidFill>
                  <a:srgbClr val="000000"/>
                </a:solidFill>
              </a:rPr>
              <a:pPr/>
              <a:t>19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Armadillo found in Wrenshall MN recently. </a:t>
            </a:r>
          </a:p>
        </p:txBody>
      </p:sp>
    </p:spTree>
    <p:extLst>
      <p:ext uri="{BB962C8B-B14F-4D97-AF65-F5344CB8AC3E}">
        <p14:creationId xmlns:p14="http://schemas.microsoft.com/office/powerpoint/2010/main" val="1349676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691EFA4-B406-474B-BB1F-FA1E11DDF19F}" type="slidenum">
              <a:rPr lang="en-US" sz="1200">
                <a:solidFill>
                  <a:srgbClr val="000000"/>
                </a:solidFill>
              </a:rPr>
              <a:pPr/>
              <a:t>20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37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0A40151-E5DE-3943-B67F-33FC4B411BBA}" type="slidenum">
              <a:rPr lang="en-US" sz="1200">
                <a:solidFill>
                  <a:srgbClr val="000000"/>
                </a:solidFill>
              </a:rPr>
              <a:pPr/>
              <a:t>21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DFA2036-1197-6548-88A1-FAEE6E4CD68E}" type="slidenum">
              <a:rPr lang="en-US" sz="1200">
                <a:solidFill>
                  <a:srgbClr val="000000"/>
                </a:solidFill>
              </a:rPr>
              <a:pPr/>
              <a:t>22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Observation Hypothesis formulation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8501F21-D6CF-6246-8148-46858470300A}" type="slidenum">
              <a:rPr lang="en-US" sz="1200">
                <a:solidFill>
                  <a:srgbClr val="000000"/>
                </a:solidFill>
              </a:rPr>
              <a:pPr/>
              <a:t>23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6324-53AC-8D58-347B-EFF0C736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75264466-93EC-40AB-1A3B-76ECF2E459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8501F21-D6CF-6246-8148-46858470300A}" type="slidenum">
              <a:rPr lang="en-US" sz="1200">
                <a:solidFill>
                  <a:srgbClr val="000000"/>
                </a:solidFill>
              </a:rPr>
              <a:pPr/>
              <a:t>24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897CC78B-3F79-0752-3902-A52D51A852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9B80B53-E753-51F8-2DD4-02441BB92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1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1A82E5-08CB-4694-A00A-1851B58AD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F2F91E-70B3-4679-B018-2B29976C3A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C8DB2A-49CF-4485-89AE-79B494085A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6C7EF-11C8-48ED-AD22-86DCB750EE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85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B31C60-6A7C-4604-B2D1-6D07D3FE7E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3F321D-3CCF-4B22-B8C3-DE4094FE93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2AB9EC-CE96-413B-81B4-07170EF25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05637-F0C6-4D6F-A0D0-D954C1F098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80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FAFEAF-F77E-4488-AD58-A3112E17A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EA2F1F-77CF-474E-B13D-0D191A79B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F1838C-EBCD-4A36-9C98-13E9ADED4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5F0F9-7457-4C96-AD84-CCC55706E5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57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41126-8762-4941-A695-9218FB49A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308DB-53DD-4E12-9BDD-73556F130F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00A6A-9BF1-4CD2-BD23-F216D5BC8E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38DDB-FDD2-485B-B445-325B37E99B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310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556D1D2-30F5-4F33-BAFD-31284C21A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3B5A564-8103-4C3D-A6BB-90704A280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852D02-8A89-481A-BA3E-8E83429FF7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4B3FA-5BC0-41C7-BC63-A14A31484D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62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C062BD0-7573-437A-9F54-58382029B4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2CDDC6-F30C-4E1B-AFED-EEF43C6A4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E62EFDE-09E9-48C4-9D79-E80A7E9F77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5C585-CFC8-4599-9906-6037EC88FF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320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F53627-EF1E-4A8C-8B05-A582235694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E2F372-0B6F-43EB-953C-32C479A23B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372C5B-9ECA-4D53-8A28-17E44589E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389E1-981A-4D4B-B198-1B53C1E49C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03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4727C-D170-4BAE-9CC3-F495A0B0D0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2CC58-1B88-4C8A-B950-CF6AB35DF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E5BE1-7084-4167-8667-1EC515E32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9C1CC-15C1-4E22-B89C-5AE0EBAC8B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41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EDA57-E3CD-4076-9BB6-BBF5234CC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A632D0-E222-40A6-B6D5-AB3AC5A56F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C8B38-6E59-4EC9-B402-46831515DC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CE68B-C069-418B-93B8-FAA37E07FA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19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ADAD70-C75E-4501-A868-7BF3894B69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3C63B4-F0C6-4F59-BEDE-681F6B82C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BEACB1-FEB5-48A4-AB82-5865068041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F3B33-11F3-4B16-A8F6-92C9C44C78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65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CB1E82-48F3-4704-8C21-FB59186D6C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D21A67-478C-43C6-915B-1ED6D59D12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CB149D-4215-4094-8F57-31A585729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16BE3-F978-4499-B54A-1FB8618030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78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A55E06-7897-4934-91C1-0F0ADCC6C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6417AB-1A12-4182-A855-168373B27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B83372B-2EFD-42F7-B275-77539BF637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25EBD7-64F4-43F1-8663-89069AD398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9622A9-B9F9-4352-8B8D-AA7D835B6C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C8FFDBD-4415-4750-BBF1-1E40BC278C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06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hyperlink" Target="http://symphonyofscience.com/" TargetMode="External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www.youtube.com/watch?v=7e5-0t0pTF0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CEA159-B11F-41CB-8D07-74078C18E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" y="131574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BIOL 1414 Intro to Mol/Cell Biology</a:t>
            </a:r>
            <a:br>
              <a:rPr lang="en-US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Lecture #2</a:t>
            </a:r>
            <a:br>
              <a:rPr lang="en-US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19/20 August 2026</a:t>
            </a:r>
            <a:endParaRPr lang="en-US" altLang="en-US" sz="4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699" name="Slide Number Placeholder 1">
            <a:extLst>
              <a:ext uri="{FF2B5EF4-FFF2-40B4-BE49-F238E27FC236}">
                <a16:creationId xmlns:a16="http://schemas.microsoft.com/office/drawing/2014/main" id="{C5AE6D58-EF4A-4773-B17D-F74D0590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B7115-D5C9-46AA-AD4E-13956773E24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129955-818B-5D7E-0A7F-AD20913B2ED1}"/>
              </a:ext>
            </a:extLst>
          </p:cNvPr>
          <p:cNvSpPr txBox="1"/>
          <p:nvPr/>
        </p:nvSpPr>
        <p:spPr>
          <a:xfrm>
            <a:off x="5107460" y="5129950"/>
            <a:ext cx="3209335" cy="5847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Blue Dragon</a:t>
            </a:r>
          </a:p>
          <a:p>
            <a:pPr algn="ctr"/>
            <a:r>
              <a:rPr lang="en-US" sz="1600" b="1" i="1" dirty="0" err="1"/>
              <a:t>Glaucus</a:t>
            </a:r>
            <a:r>
              <a:rPr lang="en-US" sz="1600" b="1" i="1" dirty="0"/>
              <a:t> </a:t>
            </a:r>
            <a:r>
              <a:rPr lang="en-US" sz="1600" b="1" i="1" dirty="0" err="1"/>
              <a:t>atlanticus</a:t>
            </a:r>
            <a:endParaRPr lang="en-US" sz="1600" b="1" i="1" dirty="0"/>
          </a:p>
        </p:txBody>
      </p:sp>
      <p:pic>
        <p:nvPicPr>
          <p:cNvPr id="3" name="Picture 2" descr="Picture of the Blue Dragon sea slug. ">
            <a:extLst>
              <a:ext uri="{FF2B5EF4-FFF2-40B4-BE49-F238E27FC236}">
                <a16:creationId xmlns:a16="http://schemas.microsoft.com/office/drawing/2014/main" id="{A61F5F16-3329-C098-CE70-1D5B7FD8C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60" y="1829347"/>
            <a:ext cx="3209335" cy="319930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D214D4-CDD5-4194-6386-B002FB14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13034"/>
            <a:ext cx="480266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sz="2400" b="1" u="sng" kern="0" dirty="0">
                <a:latin typeface="Arial" charset="0"/>
                <a:ea typeface="ＭＳ Ｐゴシック" charset="0"/>
                <a:cs typeface="ＭＳ Ｐゴシック" charset="0"/>
              </a:rPr>
              <a:t>Last time:</a:t>
            </a:r>
          </a:p>
          <a:p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My background</a:t>
            </a:r>
          </a:p>
          <a:p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Class Blackboard</a:t>
            </a:r>
          </a:p>
          <a:p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Class Expectations</a:t>
            </a:r>
          </a:p>
          <a:p>
            <a:pPr marL="0" indent="0">
              <a:buNone/>
            </a:pPr>
            <a:endParaRPr lang="en-US" sz="2400" kern="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Tx/>
              <a:buNone/>
            </a:pPr>
            <a:r>
              <a:rPr lang="en-US" sz="2400" b="1" u="sng" kern="0" dirty="0">
                <a:latin typeface="Arial" charset="0"/>
                <a:ea typeface="ＭＳ Ｐゴシック" charset="0"/>
                <a:cs typeface="ＭＳ Ｐゴシック" charset="0"/>
              </a:rPr>
              <a:t>Today</a:t>
            </a:r>
            <a:r>
              <a:rPr lang="en-US" sz="2400" b="1" kern="0" dirty="0">
                <a:latin typeface="Arial" charset="0"/>
                <a:ea typeface="ＭＳ Ｐゴシック" charset="0"/>
                <a:cs typeface="ＭＳ Ｐゴシック" charset="0"/>
              </a:rPr>
              <a:t>:</a:t>
            </a:r>
            <a:endParaRPr lang="en-US" sz="2400" kern="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Scientific Method</a:t>
            </a:r>
          </a:p>
          <a:p>
            <a:pPr eaLnBrk="1" hangingPunct="1"/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Experimental Design</a:t>
            </a:r>
          </a:p>
          <a:p>
            <a:pPr eaLnBrk="1" hangingPunct="1"/>
            <a:r>
              <a:rPr lang="en-US" sz="2400" kern="0" dirty="0">
                <a:latin typeface="Arial" charset="0"/>
                <a:ea typeface="ＭＳ Ｐゴシック" charset="0"/>
                <a:cs typeface="ＭＳ Ｐゴシック" charset="0"/>
              </a:rPr>
              <a:t>Start Reporting Scientific Work</a:t>
            </a:r>
          </a:p>
          <a:p>
            <a:pPr eaLnBrk="1" hangingPunct="1"/>
            <a:endParaRPr lang="en-US" sz="1800" kern="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4B15D438-7E86-F046-90AA-C806E660E95C}" type="slidenum">
              <a:rPr lang="en-US" sz="1400" b="1" smtClean="0">
                <a:solidFill>
                  <a:srgbClr val="000000"/>
                </a:solidFill>
                <a:latin typeface="Arial"/>
                <a:cs typeface="Arial"/>
              </a:rPr>
              <a:t>2</a:t>
            </a:fld>
            <a:endParaRPr lang="en-US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4" name="Picture 3" descr="Picture of the Blue Dragon sea slug.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76" y="41288"/>
            <a:ext cx="5046848" cy="3335651"/>
          </a:xfrm>
          <a:prstGeom prst="rect">
            <a:avLst/>
          </a:prstGeom>
        </p:spPr>
      </p:pic>
      <p:pic>
        <p:nvPicPr>
          <p:cNvPr id="5" name="Picture 4" descr="Picture of the Blue Dragon sea slug.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576" y="3438135"/>
            <a:ext cx="5046848" cy="341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0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CEA159-B11F-41CB-8D07-74078C18E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Putting the 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ology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Biology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endParaRPr lang="en-US" altLang="en-US" sz="5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8313701-B5B2-4AD4-B710-A8B491E8C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3200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b="1" u="sng" dirty="0"/>
              <a:t>Ology</a:t>
            </a:r>
            <a:r>
              <a:rPr lang="en-US" altLang="en-US" sz="2000" dirty="0"/>
              <a:t> = the study 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From the Greek word “logia” meaning study, speak, lecture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“O” is usually from the word proceeding logy = Eco logy = Ecology</a:t>
            </a:r>
          </a:p>
          <a:p>
            <a:pPr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u="sng" dirty="0"/>
              <a:t>Bio</a:t>
            </a:r>
            <a:r>
              <a:rPr lang="en-US" altLang="en-US" sz="2000" dirty="0"/>
              <a:t> = life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From the Greek word “bios”</a:t>
            </a:r>
            <a:r>
              <a:rPr lang="en-US" altLang="ja-JP" sz="1600" dirty="0"/>
              <a:t> meaning life</a:t>
            </a:r>
          </a:p>
          <a:p>
            <a:pPr lvl="1" eaLnBrk="1" hangingPunct="1">
              <a:lnSpc>
                <a:spcPct val="90000"/>
              </a:lnSpc>
            </a:pPr>
            <a:endParaRPr lang="en-US" altLang="ja-JP" sz="1600" dirty="0"/>
          </a:p>
          <a:p>
            <a:pPr eaLnBrk="1" hangingPunct="1">
              <a:lnSpc>
                <a:spcPct val="90000"/>
              </a:lnSpc>
            </a:pPr>
            <a:r>
              <a:rPr lang="en-US" altLang="ja-JP" sz="2000" b="1" u="sng" dirty="0"/>
              <a:t>Biology</a:t>
            </a:r>
            <a:r>
              <a:rPr lang="en-US" altLang="ja-JP" sz="2000" dirty="0"/>
              <a:t> = study of life</a:t>
            </a:r>
            <a:endParaRPr lang="en-US" altLang="ja-JP" sz="2000" b="1" u="sng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rgbClr val="FF0000"/>
                </a:solidFill>
              </a:rPr>
              <a:t>scientific</a:t>
            </a:r>
            <a:r>
              <a:rPr lang="en-US" altLang="en-US" sz="1600" dirty="0"/>
              <a:t> study of living things</a:t>
            </a:r>
          </a:p>
          <a:p>
            <a:pPr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u="sng" dirty="0"/>
              <a:t>Eco</a:t>
            </a:r>
            <a:r>
              <a:rPr lang="en-US" altLang="en-US" sz="2000" dirty="0"/>
              <a:t> = house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From the Greek word “</a:t>
            </a:r>
            <a:r>
              <a:rPr lang="en-US" altLang="ja-JP" sz="1600" dirty="0" err="1"/>
              <a:t>oikoc</a:t>
            </a:r>
            <a:r>
              <a:rPr lang="en-US" altLang="en-US" sz="1600" dirty="0"/>
              <a:t>”</a:t>
            </a:r>
            <a:r>
              <a:rPr lang="en-US" altLang="ja-JP" sz="1600" dirty="0"/>
              <a:t> meaning house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="1" u="sng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u="sng" dirty="0"/>
              <a:t>Ecology</a:t>
            </a:r>
            <a:r>
              <a:rPr lang="en-US" altLang="en-US" sz="2000" dirty="0"/>
              <a:t> = study of the house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>
                <a:solidFill>
                  <a:srgbClr val="FF0000"/>
                </a:solidFill>
              </a:rPr>
              <a:t>scientific</a:t>
            </a:r>
            <a:r>
              <a:rPr lang="en-US" altLang="en-US" sz="1600" dirty="0"/>
              <a:t> study of organisms and their environment </a:t>
            </a:r>
          </a:p>
        </p:txBody>
      </p:sp>
      <p:sp>
        <p:nvSpPr>
          <p:cNvPr id="29699" name="Slide Number Placeholder 1">
            <a:extLst>
              <a:ext uri="{FF2B5EF4-FFF2-40B4-BE49-F238E27FC236}">
                <a16:creationId xmlns:a16="http://schemas.microsoft.com/office/drawing/2014/main" id="{C5AE6D58-EF4A-4773-B17D-F74D0590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B7115-D5C9-46AA-AD4E-13956773E24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29700" name="Picture 2" descr="Picture of cedar wax wing bird.">
            <a:extLst>
              <a:ext uri="{FF2B5EF4-FFF2-40B4-BE49-F238E27FC236}">
                <a16:creationId xmlns:a16="http://schemas.microsoft.com/office/drawing/2014/main" id="{7F552133-4829-4A54-A3FA-61CE3734D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458" y="4210184"/>
            <a:ext cx="18034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5C7882-7FA6-C09F-1567-3459D2D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207" y="2247322"/>
            <a:ext cx="2407901" cy="175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1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C46E41-C662-408A-BCF9-BADF38555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8393" y="533399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Science?</a:t>
            </a:r>
            <a:endParaRPr lang="en-US" altLang="en-US" sz="72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Slide Number Placeholder 1">
            <a:extLst>
              <a:ext uri="{FF2B5EF4-FFF2-40B4-BE49-F238E27FC236}">
                <a16:creationId xmlns:a16="http://schemas.microsoft.com/office/drawing/2014/main" id="{27468449-07E3-4789-9D9B-491F09C0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A71009-CFED-4C58-A884-BAFB4F35529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" name="Content Placeholder 3" descr="A science logo with symbols&#10;&#10;">
            <a:extLst>
              <a:ext uri="{FF2B5EF4-FFF2-40B4-BE49-F238E27FC236}">
                <a16:creationId xmlns:a16="http://schemas.microsoft.com/office/drawing/2014/main" id="{AEEA7C26-0962-4405-8212-05682496C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7120" y="2544395"/>
            <a:ext cx="5809759" cy="2988409"/>
          </a:xfrm>
        </p:spPr>
      </p:pic>
    </p:spTree>
    <p:extLst>
      <p:ext uri="{BB962C8B-B14F-4D97-AF65-F5344CB8AC3E}">
        <p14:creationId xmlns:p14="http://schemas.microsoft.com/office/powerpoint/2010/main" val="208105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C46E41-C662-408A-BCF9-BADF38555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Putting the 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ology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in 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en-US" altLang="ja-JP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biology</a:t>
            </a:r>
            <a:r>
              <a:rPr lang="ja-JP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endParaRPr lang="en-US" altLang="en-US" sz="5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90DD71B-6190-4C1E-BFDF-506B6553C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763000" cy="3124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u="sng" dirty="0"/>
              <a:t>Science</a:t>
            </a:r>
            <a:r>
              <a:rPr lang="en-US" altLang="en-US" sz="2000" dirty="0"/>
              <a:t> – the systematic observation of natural events and conditions in order to discover facts about them and to formulate, principles, theories and laws based on these facts.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Science does not progress by accumulating facts, it progresses by addressing the stuff we </a:t>
            </a:r>
            <a:r>
              <a:rPr lang="en-US" altLang="en-US" sz="2000" i="1" dirty="0"/>
              <a:t>don</a:t>
            </a:r>
            <a:r>
              <a:rPr lang="ja-JP" altLang="en-US" sz="2000" i="1" dirty="0"/>
              <a:t>’</a:t>
            </a:r>
            <a:r>
              <a:rPr lang="en-US" altLang="ja-JP" sz="2000" i="1" dirty="0"/>
              <a:t>t</a:t>
            </a:r>
            <a:r>
              <a:rPr lang="en-US" altLang="ja-JP" sz="2000" dirty="0"/>
              <a:t> know and trying to figure out how it works.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We use what we have found to ask more in-depth question – </a:t>
            </a:r>
            <a:r>
              <a:rPr lang="en-US" altLang="en-US" sz="1600" b="1" dirty="0"/>
              <a:t>Science is circular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ja-JP" altLang="en-US" sz="2000" dirty="0"/>
              <a:t>“</a:t>
            </a:r>
            <a:r>
              <a:rPr lang="en-US" altLang="ja-JP" sz="2000" dirty="0"/>
              <a:t>Religion is a culture of faith; science is a culture of doubt.</a:t>
            </a:r>
            <a:r>
              <a:rPr lang="ja-JP" altLang="en-US" sz="2000" dirty="0"/>
              <a:t>”</a:t>
            </a:r>
            <a:r>
              <a:rPr lang="en-US" altLang="ja-JP" sz="2000" dirty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Physicist Richard Feynman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dirty="0"/>
          </a:p>
          <a:p>
            <a:pPr eaLnBrk="1" hangingPunct="1">
              <a:lnSpc>
                <a:spcPct val="90000"/>
              </a:lnSpc>
            </a:pPr>
            <a:endParaRPr lang="en-US" altLang="en-US" sz="1800" b="1" dirty="0"/>
          </a:p>
        </p:txBody>
      </p:sp>
      <p:sp>
        <p:nvSpPr>
          <p:cNvPr id="31747" name="Slide Number Placeholder 1">
            <a:extLst>
              <a:ext uri="{FF2B5EF4-FFF2-40B4-BE49-F238E27FC236}">
                <a16:creationId xmlns:a16="http://schemas.microsoft.com/office/drawing/2014/main" id="{27468449-07E3-4789-9D9B-491F09C0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A71009-CFED-4C58-A884-BAFB4F35529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0FAD03DC-6B15-4CCD-8839-27F236941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419600"/>
            <a:ext cx="1524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3">
            <a:extLst>
              <a:ext uri="{FF2B5EF4-FFF2-40B4-BE49-F238E27FC236}">
                <a16:creationId xmlns:a16="http://schemas.microsoft.com/office/drawing/2014/main" id="{F78110F2-A727-4B28-A2B5-B0AC932A2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19600"/>
            <a:ext cx="289560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4">
            <a:extLst>
              <a:ext uri="{FF2B5EF4-FFF2-40B4-BE49-F238E27FC236}">
                <a16:creationId xmlns:a16="http://schemas.microsoft.com/office/drawing/2014/main" id="{2378FA0F-9474-49A4-8C16-0A050B0B6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419600"/>
            <a:ext cx="3429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84F9D0-8C6F-4E7E-B8FB-9A33A1629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Parable of the Black Sheep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B3B220A8-1170-4E21-B9EC-8D40C3108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4876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8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Three scientists </a:t>
            </a:r>
            <a:r>
              <a:rPr lang="en-US" altLang="en-US" sz="1800" dirty="0"/>
              <a:t>are traveling in Scotland, when  they see a lone black sheep on a hillside.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b="1" dirty="0"/>
          </a:p>
        </p:txBody>
      </p:sp>
      <p:pic>
        <p:nvPicPr>
          <p:cNvPr id="4" name="Picture 3" descr="Picture of a the side of a black sheep on grass hill.">
            <a:extLst>
              <a:ext uri="{FF2B5EF4-FFF2-40B4-BE49-F238E27FC236}">
                <a16:creationId xmlns:a16="http://schemas.microsoft.com/office/drawing/2014/main" id="{7FB2197F-B1AA-4B41-AC3D-83E0CFD95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62200"/>
            <a:ext cx="3505200" cy="2438400"/>
          </a:xfrm>
          <a:prstGeom prst="rect">
            <a:avLst/>
          </a:prstGeom>
          <a:noFill/>
          <a:ln w="9525">
            <a:solidFill>
              <a:srgbClr val="A6A6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6" name="Slide Number Placeholder 1">
            <a:extLst>
              <a:ext uri="{FF2B5EF4-FFF2-40B4-BE49-F238E27FC236}">
                <a16:creationId xmlns:a16="http://schemas.microsoft.com/office/drawing/2014/main" id="{7109D293-276F-4EE7-B9CC-B72B40ED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C0F1A3-AE11-4F61-8AB5-F9B25466978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215590D-A111-4AF3-8683-A1F52965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Parable of the black sheep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9CE00B5D-885D-4CE9-9834-6CB2EB6DA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4876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Three scientists are traveling in Scotland, when  they see a lone black sheep on a hillside.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Young scientist: </a:t>
            </a:r>
            <a:r>
              <a:rPr lang="ja-JP" altLang="en-US" sz="1800"/>
              <a:t>“</a:t>
            </a:r>
            <a:r>
              <a:rPr lang="en-US" altLang="ja-JP" sz="1800"/>
              <a:t>Hey, the sheep are black in Scotland.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</p:txBody>
      </p:sp>
      <p:pic>
        <p:nvPicPr>
          <p:cNvPr id="4" name="Picture 3" descr="Picture of a the side of a black sheep on grass hill.">
            <a:extLst>
              <a:ext uri="{FF2B5EF4-FFF2-40B4-BE49-F238E27FC236}">
                <a16:creationId xmlns:a16="http://schemas.microsoft.com/office/drawing/2014/main" id="{0FA24146-AEF6-4E65-89B5-CC1855ECD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514600"/>
            <a:ext cx="3833813" cy="2667000"/>
          </a:xfrm>
          <a:prstGeom prst="rect">
            <a:avLst/>
          </a:prstGeom>
          <a:noFill/>
          <a:ln w="9525">
            <a:solidFill>
              <a:srgbClr val="A6A6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4" name="Slide Number Placeholder 1">
            <a:extLst>
              <a:ext uri="{FF2B5EF4-FFF2-40B4-BE49-F238E27FC236}">
                <a16:creationId xmlns:a16="http://schemas.microsoft.com/office/drawing/2014/main" id="{10F698B9-FEB2-408B-92CE-11F810C8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6023F7-ECA8-4E9C-BA0C-A4E15C59129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48775AA-3B0B-4FEE-A891-D6924D078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Parable of the black sheep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446686F-7BBC-4A09-8F95-CA279FE39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4876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Three scientists are traveling in Scotland, when  they see a lone black sheep on a hillside.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Young scientist: </a:t>
            </a:r>
            <a:r>
              <a:rPr lang="ja-JP" altLang="en-US" sz="1800"/>
              <a:t>“</a:t>
            </a:r>
            <a:r>
              <a:rPr lang="en-US" altLang="ja-JP" sz="1800"/>
              <a:t>Hey, the sheep are black in Scotland.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Middle career scientist: </a:t>
            </a:r>
            <a:r>
              <a:rPr lang="ja-JP" altLang="en-US" sz="1800"/>
              <a:t>“</a:t>
            </a:r>
            <a:r>
              <a:rPr lang="en-US" altLang="ja-JP" sz="1800"/>
              <a:t>Well, </a:t>
            </a:r>
            <a:r>
              <a:rPr lang="en-US" altLang="ja-JP" sz="1800" i="1"/>
              <a:t>some</a:t>
            </a:r>
            <a:r>
              <a:rPr lang="en-US" altLang="ja-JP" sz="1800"/>
              <a:t> of the sheep in Scotland are black.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</p:txBody>
      </p:sp>
      <p:pic>
        <p:nvPicPr>
          <p:cNvPr id="4" name="Picture 3" descr="Picture of a the side of a black sheep on grass hill.">
            <a:extLst>
              <a:ext uri="{FF2B5EF4-FFF2-40B4-BE49-F238E27FC236}">
                <a16:creationId xmlns:a16="http://schemas.microsoft.com/office/drawing/2014/main" id="{C752DA68-DEEF-4CF8-BB73-AF678A0DB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2295525"/>
            <a:ext cx="3257550" cy="2266950"/>
          </a:xfrm>
          <a:prstGeom prst="rect">
            <a:avLst/>
          </a:prstGeom>
          <a:noFill/>
          <a:ln w="9525">
            <a:solidFill>
              <a:srgbClr val="A6A6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2" name="Slide Number Placeholder 1">
            <a:extLst>
              <a:ext uri="{FF2B5EF4-FFF2-40B4-BE49-F238E27FC236}">
                <a16:creationId xmlns:a16="http://schemas.microsoft.com/office/drawing/2014/main" id="{13D595B0-9089-448E-9F56-4A775EB89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D5B58C-527E-4464-8AAE-9CB234BC051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08DDC9B-0D2C-4558-A71F-3CC2C157F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Parable of the black sheep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336B92C9-FF72-47AC-9D16-51CACD77B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4876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Three scientists are traveling in Scotland, when  they see a lone black sheep on a hillside.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Young scientist: </a:t>
            </a:r>
            <a:r>
              <a:rPr lang="ja-JP" altLang="en-US" sz="1800"/>
              <a:t>“</a:t>
            </a:r>
            <a:r>
              <a:rPr lang="en-US" altLang="ja-JP" sz="1800"/>
              <a:t>Hey, the sheep are black in Scotland.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Middle career scientist: </a:t>
            </a:r>
            <a:r>
              <a:rPr lang="ja-JP" altLang="en-US" sz="1800"/>
              <a:t>“</a:t>
            </a:r>
            <a:r>
              <a:rPr lang="en-US" altLang="ja-JP" sz="1800"/>
              <a:t>Well, some of the sheep in Scotland are black.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Retired after 40 years scientist: </a:t>
            </a:r>
            <a:r>
              <a:rPr lang="ja-JP" altLang="en-US" sz="1800"/>
              <a:t>“</a:t>
            </a:r>
            <a:r>
              <a:rPr lang="en-US" altLang="ja-JP" sz="1800" i="1"/>
              <a:t>At least one </a:t>
            </a:r>
            <a:r>
              <a:rPr lang="en-US" altLang="ja-JP" sz="1800"/>
              <a:t>sheep in Scotland is black </a:t>
            </a:r>
            <a:r>
              <a:rPr lang="en-US" altLang="ja-JP" sz="1800" i="1"/>
              <a:t>on one side</a:t>
            </a:r>
            <a:r>
              <a:rPr lang="en-US" altLang="ja-JP" sz="1800"/>
              <a:t>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</p:txBody>
      </p:sp>
      <p:pic>
        <p:nvPicPr>
          <p:cNvPr id="4" name="Picture 3" descr="Picture of a the side of a black sheep on grass hill.">
            <a:extLst>
              <a:ext uri="{FF2B5EF4-FFF2-40B4-BE49-F238E27FC236}">
                <a16:creationId xmlns:a16="http://schemas.microsoft.com/office/drawing/2014/main" id="{8B407BC2-A434-491E-9CC6-303FCD61D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209800"/>
            <a:ext cx="3833813" cy="2667000"/>
          </a:xfrm>
          <a:prstGeom prst="rect">
            <a:avLst/>
          </a:prstGeom>
          <a:noFill/>
          <a:ln w="9525">
            <a:solidFill>
              <a:srgbClr val="A6A6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940" name="Slide Number Placeholder 1">
            <a:extLst>
              <a:ext uri="{FF2B5EF4-FFF2-40B4-BE49-F238E27FC236}">
                <a16:creationId xmlns:a16="http://schemas.microsoft.com/office/drawing/2014/main" id="{1E551C19-E248-448E-88DD-7C5BDBFE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D04645-4ED8-4BC7-A826-FC5324044D8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D12267F-C5B9-41A3-8230-6D08FE1B7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Science is not just about being nerdy and boring; science can be beautiful.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41986" name="Slide Number Placeholder 1">
            <a:extLst>
              <a:ext uri="{FF2B5EF4-FFF2-40B4-BE49-F238E27FC236}">
                <a16:creationId xmlns:a16="http://schemas.microsoft.com/office/drawing/2014/main" id="{91B77907-9AA6-474C-AA43-B69BEAB1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A0A822-AA8D-454A-8501-0E49BD34427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1987" name="Group 4">
            <a:extLst>
              <a:ext uri="{FF2B5EF4-FFF2-40B4-BE49-F238E27FC236}">
                <a16:creationId xmlns:a16="http://schemas.microsoft.com/office/drawing/2014/main" id="{BBA5182C-D081-4039-B405-F5F5B09E61F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47800"/>
            <a:ext cx="7772400" cy="2362200"/>
            <a:chOff x="914400" y="1295400"/>
            <a:chExt cx="7467600" cy="2549676"/>
          </a:xfrm>
        </p:grpSpPr>
        <p:pic>
          <p:nvPicPr>
            <p:cNvPr id="41992" name="Picture 2">
              <a:extLst>
                <a:ext uri="{FF2B5EF4-FFF2-40B4-BE49-F238E27FC236}">
                  <a16:creationId xmlns:a16="http://schemas.microsoft.com/office/drawing/2014/main" id="{AD5E6A3B-BCC9-4890-A5C7-299B6EF3F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295400"/>
              <a:ext cx="2438400" cy="2493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3" name="Picture 3">
              <a:extLst>
                <a:ext uri="{FF2B5EF4-FFF2-40B4-BE49-F238E27FC236}">
                  <a16:creationId xmlns:a16="http://schemas.microsoft.com/office/drawing/2014/main" id="{319AC5C7-47D6-4A9E-A69D-4ED1BF7B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1295400"/>
              <a:ext cx="4648200" cy="2549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 descr="Picture of snow flake under microscope, lighting, and white light passing through prism. ">
            <a:extLst>
              <a:ext uri="{FF2B5EF4-FFF2-40B4-BE49-F238E27FC236}">
                <a16:creationId xmlns:a16="http://schemas.microsoft.com/office/drawing/2014/main" id="{DD5F5FD5-7EBD-4753-BF13-02587AFC67EA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114800"/>
            <a:ext cx="8534400" cy="2286000"/>
            <a:chOff x="609600" y="4114800"/>
            <a:chExt cx="8534400" cy="2286000"/>
          </a:xfrm>
        </p:grpSpPr>
        <p:pic>
          <p:nvPicPr>
            <p:cNvPr id="41989" name="Picture 5">
              <a:extLst>
                <a:ext uri="{FF2B5EF4-FFF2-40B4-BE49-F238E27FC236}">
                  <a16:creationId xmlns:a16="http://schemas.microsoft.com/office/drawing/2014/main" id="{F3D33268-A136-43DA-AF7A-9D85D13C2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4114800"/>
              <a:ext cx="2636010" cy="22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0" name="Picture 6">
              <a:extLst>
                <a:ext uri="{FF2B5EF4-FFF2-40B4-BE49-F238E27FC236}">
                  <a16:creationId xmlns:a16="http://schemas.microsoft.com/office/drawing/2014/main" id="{D4718248-0414-4F41-ABA5-6BF53E0E3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4114800"/>
              <a:ext cx="3200400" cy="22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1" name="Picture 7">
              <a:extLst>
                <a:ext uri="{FF2B5EF4-FFF2-40B4-BE49-F238E27FC236}">
                  <a16:creationId xmlns:a16="http://schemas.microsoft.com/office/drawing/2014/main" id="{1960E074-0A40-45F9-91DC-4E1DA12AB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114800"/>
              <a:ext cx="2819400" cy="22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A36D72-A601-4C49-BDCC-3B54EA580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Science is not just about being nerdy and boring; science can be beautiful.</a:t>
            </a:r>
            <a:endParaRPr lang="en-US" sz="3600" b="1" i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08A97B0-112B-4529-AEDE-9138FADD4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48768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ja-JP" altLang="en-US" sz="1800"/>
              <a:t>“</a:t>
            </a:r>
            <a:r>
              <a:rPr lang="en-US" altLang="ja-JP" sz="1800"/>
              <a:t>The beauty of a living thing is not the atoms that go into it, but the way those atoms are put together and how they work together.</a:t>
            </a:r>
            <a:r>
              <a:rPr lang="ja-JP" altLang="en-US" sz="1800"/>
              <a:t>”</a:t>
            </a:r>
            <a:endParaRPr lang="en-US" altLang="ja-JP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~Carl Sagan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</p:txBody>
      </p:sp>
      <p:pic>
        <p:nvPicPr>
          <p:cNvPr id="44035" name="Picture 5">
            <a:hlinkClick r:id="rId3"/>
            <a:extLst>
              <a:ext uri="{FF2B5EF4-FFF2-40B4-BE49-F238E27FC236}">
                <a16:creationId xmlns:a16="http://schemas.microsoft.com/office/drawing/2014/main" id="{A463CE53-AA52-45BC-82F3-595EC6BB4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447800"/>
            <a:ext cx="30051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hlinkClick r:id="rId5"/>
            <a:extLst>
              <a:ext uri="{FF2B5EF4-FFF2-40B4-BE49-F238E27FC236}">
                <a16:creationId xmlns:a16="http://schemas.microsoft.com/office/drawing/2014/main" id="{A0F00650-B853-49A2-A27E-74045BA16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4038600"/>
            <a:ext cx="1214437" cy="1985963"/>
          </a:xfrm>
          <a:prstGeom prst="rect">
            <a:avLst/>
          </a:prstGeom>
          <a:noFill/>
          <a:ln w="9525">
            <a:solidFill>
              <a:srgbClr val="BFBF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7" name="Picture 6">
            <a:extLst>
              <a:ext uri="{FF2B5EF4-FFF2-40B4-BE49-F238E27FC236}">
                <a16:creationId xmlns:a16="http://schemas.microsoft.com/office/drawing/2014/main" id="{10D8D6F6-170B-4D5A-B1BF-7B6E169C2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3" y="4038600"/>
            <a:ext cx="2438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7">
            <a:extLst>
              <a:ext uri="{FF2B5EF4-FFF2-40B4-BE49-F238E27FC236}">
                <a16:creationId xmlns:a16="http://schemas.microsoft.com/office/drawing/2014/main" id="{18E12BA6-B7DA-401D-9226-18678EBC0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4038600"/>
            <a:ext cx="247015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8">
            <a:extLst>
              <a:ext uri="{FF2B5EF4-FFF2-40B4-BE49-F238E27FC236}">
                <a16:creationId xmlns:a16="http://schemas.microsoft.com/office/drawing/2014/main" id="{987120C2-F595-405D-BF4C-1F3507EA5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4038600"/>
            <a:ext cx="2133600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0" name="Slide Number Placeholder 1">
            <a:extLst>
              <a:ext uri="{FF2B5EF4-FFF2-40B4-BE49-F238E27FC236}">
                <a16:creationId xmlns:a16="http://schemas.microsoft.com/office/drawing/2014/main" id="{A0E0ED27-64EF-47DD-AB88-0B05636F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63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CE6999-653E-4EF7-99E6-3EFE38DC5D7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41" name="TextBox 1">
            <a:extLst>
              <a:ext uri="{FF2B5EF4-FFF2-40B4-BE49-F238E27FC236}">
                <a16:creationId xmlns:a16="http://schemas.microsoft.com/office/drawing/2014/main" id="{CA4583F9-4410-4EDF-9C76-BE9E78DFD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172200"/>
            <a:ext cx="5872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Cool science videos - http://symphonyofscience.com/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CAD782C3-B78B-4E71-B1B4-AED2E5CB8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5400" b="1"/>
              <a:t>Scientific Method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C472A-2BC8-4EA4-B8A6-E0C2BE24B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8153400" cy="4114800"/>
          </a:xfrm>
        </p:spPr>
        <p:txBody>
          <a:bodyPr/>
          <a:lstStyle/>
          <a:p>
            <a:r>
              <a:rPr lang="en-US" altLang="en-US" sz="2800" b="1" u="sng" dirty="0"/>
              <a:t>Hypothesis</a:t>
            </a:r>
            <a:r>
              <a:rPr lang="en-US" altLang="en-US" sz="2800" dirty="0"/>
              <a:t> - is a proposed explanation for a given phenomena (educated guess).</a:t>
            </a:r>
          </a:p>
          <a:p>
            <a:pPr lvl="1"/>
            <a:r>
              <a:rPr lang="en-US" altLang="en-US" sz="2400" b="1" dirty="0"/>
              <a:t>One that can be tested!!</a:t>
            </a:r>
          </a:p>
          <a:p>
            <a:r>
              <a:rPr lang="en-US" altLang="en-US" sz="2800" b="1" u="sng" dirty="0"/>
              <a:t>Observation</a:t>
            </a:r>
            <a:r>
              <a:rPr lang="en-US" altLang="en-US" sz="2800" dirty="0"/>
              <a:t> -  an act of recognizing and noting a fact or occurrence often involving measurement with instruments.</a:t>
            </a:r>
            <a:endParaRPr lang="en-US" altLang="en-US" sz="2800" dirty="0">
              <a:solidFill>
                <a:srgbClr val="000000"/>
              </a:solidFill>
            </a:endParaRPr>
          </a:p>
          <a:p>
            <a:r>
              <a:rPr lang="en-US" altLang="en-US" sz="2800" b="1" u="sng" dirty="0">
                <a:solidFill>
                  <a:srgbClr val="000000"/>
                </a:solidFill>
              </a:rPr>
              <a:t>Data</a:t>
            </a:r>
            <a:r>
              <a:rPr lang="en-US" altLang="en-US" sz="2800" dirty="0">
                <a:solidFill>
                  <a:srgbClr val="000000"/>
                </a:solidFill>
              </a:rPr>
              <a:t> - values of qualitative or quantitative variables, belonging to a set of items.</a:t>
            </a: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616F9C31-D3FB-4BF5-A082-C2507DE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42BB2A-6D3E-4F57-A6F0-89DB6641788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770F1324-6CC9-42FF-B8C3-243DD9B3E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876800"/>
            <a:ext cx="297180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5">
            <a:extLst>
              <a:ext uri="{FF2B5EF4-FFF2-40B4-BE49-F238E27FC236}">
                <a16:creationId xmlns:a16="http://schemas.microsoft.com/office/drawing/2014/main" id="{EC92048A-1067-4F95-9410-9E90A45A5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876800"/>
            <a:ext cx="2971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DB06FB36-3561-4ECB-8BBB-5BAA839FD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 sz="6000" b="1"/>
              <a:t>Two 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06A2-BE71-4323-A848-D5C6761DE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077200" cy="4114800"/>
          </a:xfrm>
        </p:spPr>
        <p:txBody>
          <a:bodyPr/>
          <a:lstStyle/>
          <a:p>
            <a:r>
              <a:rPr lang="en-US" altLang="en-US" b="1" u="sng" dirty="0">
                <a:solidFill>
                  <a:srgbClr val="000000"/>
                </a:solidFill>
              </a:rPr>
              <a:t>Qualitative</a:t>
            </a:r>
            <a:r>
              <a:rPr lang="en-US" altLang="en-US" dirty="0">
                <a:solidFill>
                  <a:srgbClr val="000000"/>
                </a:solidFill>
              </a:rPr>
              <a:t> - </a:t>
            </a:r>
            <a:r>
              <a:rPr lang="en-US" altLang="en-US" dirty="0"/>
              <a:t>Deals with descriptions, data can be observed but not measured.</a:t>
            </a:r>
          </a:p>
          <a:p>
            <a:pPr lvl="1"/>
            <a:r>
              <a:rPr lang="en-US" altLang="en-US" dirty="0"/>
              <a:t>Colors, textures, smells, tastes, appearance, beauty, etc.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endParaRPr lang="en-US" altLang="en-US" u="sng" dirty="0">
              <a:solidFill>
                <a:srgbClr val="000000"/>
              </a:solidFill>
            </a:endParaRPr>
          </a:p>
          <a:p>
            <a:r>
              <a:rPr lang="en-US" altLang="en-US" b="1" u="sng" dirty="0">
                <a:solidFill>
                  <a:srgbClr val="000000"/>
                </a:solidFill>
              </a:rPr>
              <a:t>Quantitative</a:t>
            </a:r>
            <a:r>
              <a:rPr lang="en-US" altLang="en-US" dirty="0">
                <a:solidFill>
                  <a:srgbClr val="000000"/>
                </a:solidFill>
              </a:rPr>
              <a:t> - </a:t>
            </a:r>
            <a:r>
              <a:rPr lang="en-US" altLang="en-US" dirty="0"/>
              <a:t>Deals with numbers, data which can be measured.</a:t>
            </a:r>
          </a:p>
          <a:p>
            <a:pPr lvl="1"/>
            <a:r>
              <a:rPr lang="en-US" altLang="en-US" dirty="0"/>
              <a:t>Length, height, area, volume, weight, speed, time, temperature, humidity, sound levels, cost, members, ages, etc.</a:t>
            </a:r>
            <a:endParaRPr lang="en-US" altLang="en-US" u="sng" dirty="0">
              <a:solidFill>
                <a:srgbClr val="000000"/>
              </a:solidFill>
            </a:endParaRP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41D07B82-7257-487D-8283-B541F30C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C63062-B8AD-48C3-83E4-98CAFAEF96E5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75DBB58-307C-4E27-A276-D3B066C29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4800" b="1"/>
              <a:t>Qualitative vs. Quantitative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7EC4F-D28A-41C4-90C6-DED7668691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235415"/>
            <a:ext cx="8610600" cy="1905000"/>
          </a:xfrm>
        </p:spPr>
        <p:txBody>
          <a:bodyPr/>
          <a:lstStyle/>
          <a:p>
            <a:r>
              <a:rPr lang="en-US" altLang="en-US" dirty="0"/>
              <a:t>My cool Trout – Roland the </a:t>
            </a:r>
            <a:r>
              <a:rPr lang="en-US" altLang="en-US" dirty="0" err="1"/>
              <a:t>Rainonbow</a:t>
            </a:r>
            <a:r>
              <a:rPr lang="en-US" altLang="en-US" dirty="0"/>
              <a:t> Trout</a:t>
            </a:r>
          </a:p>
          <a:p>
            <a:endParaRPr lang="en-US" altLang="en-US" dirty="0"/>
          </a:p>
          <a:p>
            <a:r>
              <a:rPr lang="en-US" altLang="en-US" dirty="0"/>
              <a:t>This class</a:t>
            </a:r>
          </a:p>
        </p:txBody>
      </p:sp>
      <p:sp>
        <p:nvSpPr>
          <p:cNvPr id="48131" name="Slide Number Placeholder 2">
            <a:extLst>
              <a:ext uri="{FF2B5EF4-FFF2-40B4-BE49-F238E27FC236}">
                <a16:creationId xmlns:a16="http://schemas.microsoft.com/office/drawing/2014/main" id="{E6A9903C-01F8-4E27-B14F-160AFC8F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29E75A-FFAD-41AE-9675-D2C73D552EE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54D68DD2-7F84-45EE-8C90-A1D760BA8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124200"/>
            <a:ext cx="3589586" cy="318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Science</a:t>
            </a:r>
            <a:endParaRPr lang="en-US" sz="72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91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Operates under philosophy that knowledge and understanding are gained through application of the </a:t>
            </a:r>
            <a:r>
              <a:rPr lang="en-US" sz="2000" b="1" u="sng" dirty="0">
                <a:latin typeface="Arial" charset="0"/>
                <a:ea typeface="ＭＳ Ｐゴシック" charset="0"/>
                <a:cs typeface="ＭＳ Ｐゴシック" charset="0"/>
              </a:rPr>
              <a:t>scientific method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: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Observation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Asking a question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sz="1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Hypothesis formulation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Maybe more than one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Experimentation (hypothesis testing)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Observations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Data recording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 Evaluation of test results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Review observations and data</a:t>
            </a:r>
          </a:p>
          <a:p>
            <a:pPr lvl="2" eaLnBrk="1" hangingPunct="1">
              <a:lnSpc>
                <a:spcPct val="90000"/>
              </a:lnSpc>
              <a:defRPr/>
            </a:pPr>
            <a:endParaRPr lang="en-US" sz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Share findings of experiment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Conference presentations (oral or poster)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200" dirty="0">
                <a:latin typeface="Arial" charset="0"/>
                <a:ea typeface="ＭＳ Ｐゴシック" charset="0"/>
                <a:cs typeface="ＭＳ Ｐゴシック" charset="0"/>
              </a:rPr>
              <a:t>Publications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Formulate new hypothesis from findings</a:t>
            </a:r>
            <a:endParaRPr lang="en-US" sz="18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209BF5D-BC1D-5B47-9EA0-9D11E0422DEC}" type="slidenum">
              <a:rPr lang="en-US" sz="1400">
                <a:solidFill>
                  <a:srgbClr val="000000"/>
                </a:solidFill>
              </a:rPr>
              <a:pPr/>
              <a:t>15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59396" name="Picture 2" descr="Diagram illustrating scientific method cycle with four colored arrows forming a circle around a central gray sphere labeled &quot;Scientific Method.&quot; Arrows represent key components: yellow &quot;Hypotheses,&quot; purple &quot;Procedures (Experiments),&quot; blue &quot;Data (Results),&quot; and green &quot;Findings (Conclusions),&quot; highlighting continuous, iterative nature of scientific inquiry.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007" y="2271548"/>
            <a:ext cx="32766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8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0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0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Science</a:t>
            </a:r>
            <a:endParaRPr lang="en-US" sz="72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91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A good hypothesis must be </a:t>
            </a:r>
            <a:r>
              <a:rPr lang="en-US" b="1" dirty="0">
                <a:latin typeface="Arial" charset="0"/>
                <a:ea typeface="ＭＳ Ｐゴシック" charset="0"/>
                <a:cs typeface="ＭＳ Ｐゴシック" charset="0"/>
              </a:rPr>
              <a:t>Falsifiable and Testable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You must be able to disprove it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IMPORTANT - science </a:t>
            </a:r>
            <a:r>
              <a:rPr lang="en-US" u="sng" dirty="0">
                <a:latin typeface="Arial" charset="0"/>
                <a:ea typeface="ＭＳ Ｐゴシック" charset="0"/>
                <a:cs typeface="ＭＳ Ｐゴシック" charset="0"/>
              </a:rPr>
              <a:t>never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proves anything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But it can disprove hypotheses – this is what makes it science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Existence of : Invisible, incorporeal, heatless dragon living in my office. 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Not testable and not falsifiable = not science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209BF5D-BC1D-5B47-9EA0-9D11E0422DEC}" type="slidenum">
              <a:rPr lang="en-US" sz="1400">
                <a:solidFill>
                  <a:srgbClr val="000000"/>
                </a:solidFill>
              </a:rPr>
              <a:pPr/>
              <a:t>16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82262-9892-4184-ABF3-20075C3EC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20" y="5105400"/>
            <a:ext cx="2448359" cy="16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2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Experimental Design</a:t>
            </a:r>
            <a:endParaRPr lang="en-US" sz="72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939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209BF5D-BC1D-5B47-9EA0-9D11E0422DEC}" type="slidenum">
              <a:rPr lang="en-US" sz="1400">
                <a:solidFill>
                  <a:srgbClr val="000000"/>
                </a:solidFill>
              </a:rPr>
              <a:pPr/>
              <a:t>17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457E-19C3-572E-C7BE-2E2EEF4F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r>
              <a:rPr lang="en-US" sz="2800" b="1" u="sng" dirty="0"/>
              <a:t>Control</a:t>
            </a:r>
            <a:r>
              <a:rPr lang="en-US" sz="2800" b="1" dirty="0"/>
              <a:t> – </a:t>
            </a:r>
            <a:r>
              <a:rPr lang="en-US" sz="2800" dirty="0"/>
              <a:t>receives every element of the experiment except the one being tested</a:t>
            </a:r>
          </a:p>
          <a:p>
            <a:r>
              <a:rPr lang="en-US" sz="2800" b="1" u="sng" dirty="0"/>
              <a:t>Variable</a:t>
            </a:r>
            <a:r>
              <a:rPr lang="en-US" sz="2800" b="1" dirty="0"/>
              <a:t> – </a:t>
            </a:r>
            <a:r>
              <a:rPr lang="en-US" sz="2800" dirty="0"/>
              <a:t>any part of the experiment that can change during the experiment</a:t>
            </a:r>
          </a:p>
          <a:p>
            <a:pPr lvl="1"/>
            <a:r>
              <a:rPr lang="en-US" sz="2400" b="1" u="sng" dirty="0"/>
              <a:t>Independent</a:t>
            </a:r>
            <a:r>
              <a:rPr lang="en-US" sz="2400" b="1" dirty="0"/>
              <a:t> – </a:t>
            </a:r>
            <a:r>
              <a:rPr lang="en-US" sz="2400" dirty="0"/>
              <a:t>is what is being tested or changed in an experiment</a:t>
            </a:r>
          </a:p>
          <a:p>
            <a:pPr lvl="2"/>
            <a:r>
              <a:rPr lang="en-US" sz="2000" dirty="0"/>
              <a:t>Independent = what I change</a:t>
            </a:r>
          </a:p>
          <a:p>
            <a:pPr lvl="1"/>
            <a:r>
              <a:rPr lang="en-US" sz="2400" b="1" u="sng" dirty="0"/>
              <a:t>Dependent</a:t>
            </a:r>
            <a:r>
              <a:rPr lang="en-US" sz="2400" b="1" dirty="0"/>
              <a:t> – </a:t>
            </a:r>
            <a:r>
              <a:rPr lang="en-US" sz="2400" dirty="0"/>
              <a:t>what is being recorded or monitored</a:t>
            </a:r>
          </a:p>
          <a:p>
            <a:pPr lvl="2"/>
            <a:r>
              <a:rPr lang="en-US" sz="2000" dirty="0"/>
              <a:t>Dependent – DEPEDNS on independent</a:t>
            </a:r>
          </a:p>
          <a:p>
            <a:pPr lvl="1"/>
            <a:r>
              <a:rPr lang="en-US" sz="2400" b="1" u="sng" dirty="0"/>
              <a:t>Control</a:t>
            </a:r>
            <a:r>
              <a:rPr lang="en-US" sz="2400" b="1" dirty="0"/>
              <a:t> – </a:t>
            </a:r>
            <a:r>
              <a:rPr lang="en-US" sz="2400" dirty="0"/>
              <a:t>variables that should be kept constant as not to influence the results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978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Science</a:t>
            </a:r>
            <a:endParaRPr lang="en-US" sz="8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763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SCIENCE NEVER PROVES ANYTHING!!!!!!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It can only supply support for hypotheses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Hypotheses that are consistently supported by data may eventually be considered </a:t>
            </a:r>
            <a:r>
              <a:rPr lang="ja-JP" altLang="en-US" sz="20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2000" u="sng" dirty="0">
                <a:latin typeface="Arial" charset="0"/>
                <a:ea typeface="ＭＳ Ｐゴシック" charset="0"/>
                <a:cs typeface="ＭＳ Ｐゴシック" charset="0"/>
              </a:rPr>
              <a:t>theory</a:t>
            </a:r>
            <a:r>
              <a:rPr lang="ja-JP" altLang="en-US" sz="20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 – unifying principles in a discipline that inform new hypotheses.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Note: In science, a theory is not the same as our common usage, i.e., a </a:t>
            </a:r>
            <a:r>
              <a:rPr lang="ja-JP" altLang="en-US" sz="16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guess</a:t>
            </a:r>
            <a:r>
              <a:rPr lang="ja-JP" altLang="en-US" sz="16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.  Theories don</a:t>
            </a:r>
            <a:r>
              <a:rPr lang="ja-JP" altLang="en-US" sz="1600" dirty="0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t get to be theories until they can be shown to work numerous times.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u="sng" dirty="0">
                <a:latin typeface="Arial" charset="0"/>
                <a:ea typeface="ＭＳ Ｐゴシック" charset="0"/>
                <a:cs typeface="ＭＳ Ｐゴシック" charset="0"/>
              </a:rPr>
              <a:t>Principal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 - </a:t>
            </a:r>
            <a:r>
              <a:rPr lang="en-US" sz="2000" dirty="0"/>
              <a:t>a fundamental, primary, or general finding based from a single experiment (one evaluation of a hypothesis)</a:t>
            </a:r>
          </a:p>
          <a:p>
            <a:pPr marL="1828800" lvl="4" indent="0" eaLnBrk="1" hangingPunct="1">
              <a:lnSpc>
                <a:spcPct val="90000"/>
              </a:lnSpc>
              <a:buFontTx/>
              <a:buNone/>
              <a:defRPr/>
            </a:pPr>
            <a:endParaRPr lang="en-US" sz="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u="sng" dirty="0"/>
              <a:t>Theory</a:t>
            </a:r>
            <a:r>
              <a:rPr lang="en-US" sz="2000" dirty="0"/>
              <a:t> - A scientific theory summarizes a hypothesis or group of hypotheses that have been supported with repeated testing. A theory is valid as long as there is no evidence to dispute it. May cover many scientific laws. (Theory of Relativity)</a:t>
            </a:r>
          </a:p>
          <a:p>
            <a:pPr marL="1828800" lvl="4" indent="0" eaLnBrk="1" hangingPunct="1">
              <a:lnSpc>
                <a:spcPct val="90000"/>
              </a:lnSpc>
              <a:buFontTx/>
              <a:buNone/>
              <a:defRPr/>
            </a:pPr>
            <a:endParaRPr lang="en-US" sz="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u="sng" dirty="0">
                <a:latin typeface="Arial" charset="0"/>
                <a:ea typeface="ＭＳ Ｐゴシック" charset="0"/>
                <a:cs typeface="ＭＳ Ｐゴシック" charset="0"/>
              </a:rPr>
              <a:t>Law</a:t>
            </a: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 - </a:t>
            </a:r>
            <a:r>
              <a:rPr lang="en-US" sz="1800" dirty="0"/>
              <a:t>A law generalizes a body of observations. At the time it is made, no exceptions have been found to a law. Scientific laws describe things, but they do not explain them. (Law of Gravity)</a:t>
            </a:r>
            <a:endParaRPr lang="en-US" sz="1800" b="1" u="sng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144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87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2DA8AEB-F878-4D45-B518-C48405237A46}" type="slidenum">
              <a:rPr lang="en-US" sz="1400">
                <a:solidFill>
                  <a:srgbClr val="000000"/>
                </a:solidFill>
              </a:rPr>
              <a:pPr/>
              <a:t>18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97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Science</a:t>
            </a:r>
            <a:endParaRPr lang="en-US" sz="8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5181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Scientist use two types of logical thinking: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u="sng" dirty="0">
                <a:latin typeface="Arial" charset="0"/>
                <a:ea typeface="ＭＳ Ｐゴシック" charset="0"/>
                <a:cs typeface="ＭＳ Ｐゴシック" charset="0"/>
              </a:rPr>
              <a:t>Inductive reasoning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– uses observations to come to a logical conclusion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Small to big – example studies of the brain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u="sng" dirty="0">
                <a:latin typeface="Arial" charset="0"/>
                <a:ea typeface="ＭＳ Ｐゴシック" charset="0"/>
                <a:cs typeface="ＭＳ Ｐゴシック" charset="0"/>
              </a:rPr>
              <a:t>Deductive reasoning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– used a general law or theory to predict specific results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Big to small – example climate change and animal distribution</a:t>
            </a:r>
          </a:p>
        </p:txBody>
      </p:sp>
      <p:sp>
        <p:nvSpPr>
          <p:cNvPr id="6144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8738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2DA8AEB-F878-4D45-B518-C48405237A46}" type="slidenum">
              <a:rPr lang="en-US" sz="1400">
                <a:solidFill>
                  <a:srgbClr val="000000"/>
                </a:solidFill>
              </a:rPr>
              <a:pPr/>
              <a:t>19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4" name="Picture 3" descr="PET scan of a human brain showing metabolic activity with color-coded intensity, where red and yellow indicate high activity and blue represents low activity.">
            <a:extLst>
              <a:ext uri="{FF2B5EF4-FFF2-40B4-BE49-F238E27FC236}">
                <a16:creationId xmlns:a16="http://schemas.microsoft.com/office/drawing/2014/main" id="{1C9EA6C7-FC86-C057-73E2-72C09B3B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12532" y="977678"/>
            <a:ext cx="2258590" cy="2644055"/>
          </a:xfrm>
          <a:prstGeom prst="rect">
            <a:avLst/>
          </a:prstGeom>
        </p:spPr>
      </p:pic>
      <p:pic>
        <p:nvPicPr>
          <p:cNvPr id="5" name="Picture 4" descr="Map showing expanded and potential range of nine-banded armadillo in the United States, with current range marked in red and potential range in orange. ">
            <a:extLst>
              <a:ext uri="{FF2B5EF4-FFF2-40B4-BE49-F238E27FC236}">
                <a16:creationId xmlns:a16="http://schemas.microsoft.com/office/drawing/2014/main" id="{93A9524C-A2BC-4D97-55C4-931962B9A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099" y="3810000"/>
            <a:ext cx="2858840" cy="26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Science</a:t>
            </a:r>
            <a:endParaRPr lang="en-US" sz="8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Fun fact: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Scientific discoveries usually result from well planned experiments but…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Some made by serendipity or fortunate accidents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Example: Discover of penicillin – Alexander Flemming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Accidentally left a petri dish of </a:t>
            </a:r>
            <a:r>
              <a:rPr lang="en-US" sz="1600" i="1" dirty="0">
                <a:latin typeface="Arial" charset="0"/>
                <a:ea typeface="ＭＳ Ｐゴシック" charset="0"/>
                <a:cs typeface="ＭＳ Ｐゴシック" charset="0"/>
              </a:rPr>
              <a:t>Staphylococcus </a:t>
            </a: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bacteria open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Unwanted mold grew on the dish and killed the bacteria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Fleming then investigated the bacterial death using science </a:t>
            </a:r>
          </a:p>
          <a:p>
            <a:pPr lvl="4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Led to the discovery of antibiotic penicillin</a:t>
            </a:r>
          </a:p>
          <a:p>
            <a:pPr lvl="5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Produced by the fungus </a:t>
            </a:r>
            <a:r>
              <a:rPr lang="en-US" sz="1600" i="1" dirty="0" err="1">
                <a:latin typeface="Arial" charset="0"/>
                <a:ea typeface="ＭＳ Ｐゴシック" charset="0"/>
                <a:cs typeface="ＭＳ Ｐゴシック" charset="0"/>
              </a:rPr>
              <a:t>Penecillium</a:t>
            </a:r>
            <a:r>
              <a:rPr lang="en-US" sz="16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Shows the power of observation</a:t>
            </a:r>
          </a:p>
          <a:p>
            <a:pPr lvl="3">
              <a:lnSpc>
                <a:spcPct val="90000"/>
              </a:lnSpc>
              <a:defRPr/>
            </a:pPr>
            <a:r>
              <a:rPr lang="en-US" sz="1600" dirty="0">
                <a:latin typeface="Arial" charset="0"/>
                <a:ea typeface="ＭＳ Ｐゴシック" charset="0"/>
                <a:cs typeface="ＭＳ Ｐゴシック" charset="0"/>
              </a:rPr>
              <a:t>Yogi Berra – “</a:t>
            </a:r>
            <a:r>
              <a:rPr lang="en-US" sz="1600" i="1" dirty="0">
                <a:latin typeface="Arial" charset="0"/>
                <a:ea typeface="ＭＳ Ｐゴシック" charset="0"/>
                <a:cs typeface="ＭＳ Ｐゴシック" charset="0"/>
              </a:rPr>
              <a:t>You can learn a lot by just watching”</a:t>
            </a:r>
            <a:endParaRPr lang="en-US" sz="16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144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87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2DA8AEB-F878-4D45-B518-C48405237A46}" type="slidenum">
              <a:rPr lang="en-US" sz="1400">
                <a:solidFill>
                  <a:srgbClr val="000000"/>
                </a:solidFill>
              </a:rPr>
              <a:pPr/>
              <a:t>20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2" name="Picture 1" descr="Photograph of a petri dish containing mold colonies growing on a yellowish agar medium. ">
            <a:extLst>
              <a:ext uri="{FF2B5EF4-FFF2-40B4-BE49-F238E27FC236}">
                <a16:creationId xmlns:a16="http://schemas.microsoft.com/office/drawing/2014/main" id="{54F19076-9A2E-439B-3563-D9684D2D9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81" y="4897581"/>
            <a:ext cx="2701636" cy="173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0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Experiments</a:t>
            </a:r>
            <a:endParaRPr lang="en-US" sz="48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3276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Let</a:t>
            </a:r>
            <a:r>
              <a:rPr lang="ja-JP" altLang="en-US" dirty="0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latin typeface="Arial" charset="0"/>
                <a:ea typeface="ＭＳ Ｐゴシック" charset="0"/>
                <a:cs typeface="ＭＳ Ｐゴシック" charset="0"/>
              </a:rPr>
              <a:t>s try one!!!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dirty="0">
                <a:latin typeface="Arial" charset="0"/>
                <a:ea typeface="ＭＳ Ｐゴシック" charset="0"/>
                <a:cs typeface="ＭＳ Ｐゴシック" charset="0"/>
              </a:rPr>
              <a:t>I read a news article the other day and it said…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4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4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758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FBFA319-9095-1E45-9E70-2BCF9DC1AC50}" type="slidenum">
              <a:rPr lang="en-US" sz="1400">
                <a:solidFill>
                  <a:srgbClr val="000000"/>
                </a:solidFill>
              </a:rPr>
              <a:pPr/>
              <a:t>21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EF60F-2FFB-C1F2-B09A-8267EA23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17" y="2472836"/>
            <a:ext cx="4176346" cy="417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21770" y="38100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 That ~ 50% of the worlds population now lives in cities.  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69634" name="Picture 4" descr="Bar chart comparing population sizes of ten major cities from 1950 to projected 2025 with data represented by four colored bars for each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45" y="2362200"/>
            <a:ext cx="80454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8FD71EB-53D8-4447-9BE1-0444C36E81C5}" type="slidenum">
              <a:rPr lang="en-US" sz="1400">
                <a:solidFill>
                  <a:srgbClr val="000000"/>
                </a:solidFill>
              </a:rPr>
              <a:pPr/>
              <a:t>22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A4877-DCE1-5E64-E2D7-4E9EA5AA3045}"/>
              </a:ext>
            </a:extLst>
          </p:cNvPr>
          <p:cNvSpPr txBox="1"/>
          <p:nvPr/>
        </p:nvSpPr>
        <p:spPr>
          <a:xfrm>
            <a:off x="1823545" y="1582597"/>
            <a:ext cx="54969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My question - Is this true here</a:t>
            </a:r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at TCC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0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Some say that ~ 50% of population lives in cities.  Is this true here?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We will </a:t>
            </a:r>
            <a:r>
              <a:rPr lang="en-US" sz="2400" u="sng" dirty="0">
                <a:latin typeface="Arial" charset="0"/>
                <a:ea typeface="ＭＳ Ｐゴシック" charset="0"/>
                <a:cs typeface="ＭＳ Ｐゴシック" charset="0"/>
              </a:rPr>
              <a:t>test the hypothesis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that a (more or less) random sample of people in this class live in big cities.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Survey 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 sz="2400" dirty="0">
                <a:latin typeface="Arial" charset="0"/>
                <a:ea typeface="ＭＳ Ｐゴシック" charset="0"/>
                <a:cs typeface="ＭＳ Ｐゴシック" charset="0"/>
              </a:rPr>
              <a:t>What is your hometown?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endParaRPr lang="en-US" altLang="ja-JP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Predefined categories: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b="1" dirty="0">
                <a:latin typeface="Arial" charset="0"/>
                <a:ea typeface="ＭＳ Ｐゴシック" charset="0"/>
                <a:cs typeface="ＭＳ Ｐゴシック" charset="0"/>
              </a:rPr>
              <a:t>City (urban area) – greater than 200,000 people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b="1" dirty="0">
                <a:latin typeface="Arial" charset="0"/>
                <a:ea typeface="ＭＳ Ｐゴシック" charset="0"/>
                <a:cs typeface="ＭＳ Ｐゴシック" charset="0"/>
              </a:rPr>
              <a:t>Rural area – fewer than 200,000</a:t>
            </a:r>
          </a:p>
          <a:p>
            <a:pPr eaLnBrk="1" hangingPunct="1">
              <a:lnSpc>
                <a:spcPct val="90000"/>
              </a:lnSpc>
            </a:pPr>
            <a:endParaRPr lang="en-US" sz="18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E54FB18-F7D3-FA41-876A-A03A7EAC3A45}" type="slidenum">
              <a:rPr lang="en-US" sz="1400">
                <a:solidFill>
                  <a:srgbClr val="000000"/>
                </a:solidFill>
              </a:rPr>
              <a:pPr/>
              <a:t>23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4C8C4-05E7-F962-01FE-F627C9834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347134"/>
            <a:ext cx="3803333" cy="212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1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8749-677B-B76E-F30E-6FC729AD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r chart comparing two categories, Rural and City, with vertical blue gradient bars representing values. City category shows a significantly higher value of 77% compared to Rural's value of 23%, indicating a notable difference between the two.">
            <a:extLst>
              <a:ext uri="{FF2B5EF4-FFF2-40B4-BE49-F238E27FC236}">
                <a16:creationId xmlns:a16="http://schemas.microsoft.com/office/drawing/2014/main" id="{98291097-5396-77CF-01E3-0E2E7DC2F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62" y="1264861"/>
            <a:ext cx="7462077" cy="4526339"/>
          </a:xfrm>
          <a:prstGeom prst="rect">
            <a:avLst/>
          </a:prstGeom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BF7409FC-241A-2A72-D11D-358B16F4B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Some say that ~ 50% of population lives in cities.  Is this true here?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7BA14BF7-F34B-A6C4-1265-803CB43EA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sz="18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3" name="Slide Number Placeholder 1">
            <a:extLst>
              <a:ext uri="{FF2B5EF4-FFF2-40B4-BE49-F238E27FC236}">
                <a16:creationId xmlns:a16="http://schemas.microsoft.com/office/drawing/2014/main" id="{A184B0A8-EF8A-EE07-B712-286D32F2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E54FB18-F7D3-FA41-876A-A03A7EAC3A45}" type="slidenum">
              <a:rPr lang="en-US" sz="1400">
                <a:solidFill>
                  <a:srgbClr val="000000"/>
                </a:solidFill>
              </a:rPr>
              <a:pPr/>
              <a:t>24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BC607-08EE-E1BE-53E6-968517680DC0}"/>
              </a:ext>
            </a:extLst>
          </p:cNvPr>
          <p:cNvSpPr txBox="1"/>
          <p:nvPr/>
        </p:nvSpPr>
        <p:spPr>
          <a:xfrm>
            <a:off x="5943600" y="21336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77%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65571-144B-A66B-3317-8BD222FFDB79}"/>
              </a:ext>
            </a:extLst>
          </p:cNvPr>
          <p:cNvSpPr txBox="1"/>
          <p:nvPr/>
        </p:nvSpPr>
        <p:spPr>
          <a:xfrm>
            <a:off x="2590800" y="43434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23%</a:t>
            </a:r>
          </a:p>
        </p:txBody>
      </p:sp>
    </p:spTree>
    <p:extLst>
      <p:ext uri="{BB962C8B-B14F-4D97-AF65-F5344CB8AC3E}">
        <p14:creationId xmlns:p14="http://schemas.microsoft.com/office/powerpoint/2010/main" val="2505541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458200" cy="4114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Do we support or reject the hypothesis?</a:t>
            </a:r>
          </a:p>
          <a:p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Any concerns with this??</a:t>
            </a:r>
          </a:p>
          <a:p>
            <a:pPr lvl="1"/>
            <a:r>
              <a:rPr lang="en-US" dirty="0">
                <a:latin typeface="Arial" charset="0"/>
                <a:ea typeface="ＭＳ Ｐゴシック" charset="0"/>
              </a:rPr>
              <a:t>Is our sample representative of world?</a:t>
            </a:r>
          </a:p>
          <a:p>
            <a:pPr lvl="2"/>
            <a:r>
              <a:rPr lang="en-US" dirty="0">
                <a:latin typeface="Arial" charset="0"/>
                <a:ea typeface="ＭＳ Ｐゴシック" charset="0"/>
              </a:rPr>
              <a:t>Would we find different results in:</a:t>
            </a:r>
          </a:p>
          <a:p>
            <a:pPr lvl="3"/>
            <a:r>
              <a:rPr lang="en-US" dirty="0">
                <a:latin typeface="Arial" charset="0"/>
                <a:ea typeface="ＭＳ Ｐゴシック" charset="0"/>
              </a:rPr>
              <a:t>The NYC area?</a:t>
            </a:r>
          </a:p>
          <a:p>
            <a:pPr lvl="3"/>
            <a:r>
              <a:rPr lang="en-US" dirty="0">
                <a:latin typeface="Arial" charset="0"/>
                <a:ea typeface="ＭＳ Ｐゴシック" charset="0"/>
              </a:rPr>
              <a:t>The Hays Kansas area?</a:t>
            </a:r>
          </a:p>
          <a:p>
            <a:pPr lvl="3"/>
            <a:r>
              <a:rPr lang="en-US" dirty="0">
                <a:latin typeface="Arial" charset="0"/>
                <a:ea typeface="ＭＳ Ｐゴシック" charset="0"/>
              </a:rPr>
              <a:t>South Dakota?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Why we need to test hypotheses numerous times.</a:t>
            </a:r>
          </a:p>
        </p:txBody>
      </p:sp>
      <p:sp>
        <p:nvSpPr>
          <p:cNvPr id="8294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043EB06-69CC-BB44-9DE5-6F5458C16F14}" type="slidenum">
              <a:rPr lang="en-US" sz="1400">
                <a:solidFill>
                  <a:srgbClr val="000000"/>
                </a:solidFill>
              </a:rPr>
              <a:pPr/>
              <a:t>25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Some say that ~ 50% of population lives in cities. Is this true here?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82948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562600"/>
            <a:ext cx="52578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244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41148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One of the most important steps in the science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Can share results in different ways: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Meeting poster or presentation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Only a small audience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Classroom examples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Only a small audience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Interpretive dance portrayal on the street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Very small audience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Peer-reviewed manuscripts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Largest audience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Peer-reviewed process add validity to findings</a:t>
            </a:r>
          </a:p>
        </p:txBody>
      </p:sp>
      <p:sp>
        <p:nvSpPr>
          <p:cNvPr id="8294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043EB06-69CC-BB44-9DE5-6F5458C16F14}" type="slidenum">
              <a:rPr lang="en-US" sz="1400">
                <a:solidFill>
                  <a:srgbClr val="000000"/>
                </a:solidFill>
              </a:rPr>
              <a:pPr/>
              <a:t>26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Reporting Scientific Work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6C3600-80C6-5E36-8346-F26FE5DB4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15" y="1933431"/>
            <a:ext cx="2406939" cy="18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8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458200" cy="4114800"/>
          </a:xfrm>
        </p:spPr>
        <p:txBody>
          <a:bodyPr/>
          <a:lstStyle/>
          <a:p>
            <a:r>
              <a:rPr lang="en-US" sz="4000" dirty="0">
                <a:latin typeface="Arial" charset="0"/>
                <a:ea typeface="ＭＳ Ｐゴシック" charset="0"/>
                <a:cs typeface="ＭＳ Ｐゴシック" charset="0"/>
              </a:rPr>
              <a:t>The study of life continued</a:t>
            </a:r>
          </a:p>
        </p:txBody>
      </p:sp>
      <p:sp>
        <p:nvSpPr>
          <p:cNvPr id="8294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043EB06-69CC-BB44-9DE5-6F5458C16F14}" type="slidenum">
              <a:rPr lang="en-US" sz="1400">
                <a:solidFill>
                  <a:srgbClr val="000000"/>
                </a:solidFill>
              </a:rPr>
              <a:pPr/>
              <a:t>27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Next Time</a:t>
            </a:r>
            <a:endParaRPr lang="en-US" sz="6000" b="1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3" descr="A green plant growing through a tree stump">
            <a:extLst>
              <a:ext uri="{FF2B5EF4-FFF2-40B4-BE49-F238E27FC236}">
                <a16:creationId xmlns:a16="http://schemas.microsoft.com/office/drawing/2014/main" id="{4C353CC5-B578-A62C-78CA-99843E46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568" y="2286000"/>
            <a:ext cx="5614863" cy="373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6069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18870</TotalTime>
  <Words>1753</Words>
  <Application>Microsoft Office PowerPoint</Application>
  <PresentationFormat>On-screen Show (4:3)</PresentationFormat>
  <Paragraphs>270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ＭＳ Ｐゴシック</vt:lpstr>
      <vt:lpstr>Arial</vt:lpstr>
      <vt:lpstr>Blank Presentation</vt:lpstr>
      <vt:lpstr>BIOL 1414 Intro to Mol/Cell Biology Lecture #2 19/20 August 2026</vt:lpstr>
      <vt:lpstr>PowerPoint Presentation</vt:lpstr>
      <vt:lpstr>Putting the “ology” in “Biology”</vt:lpstr>
      <vt:lpstr>What is Science?</vt:lpstr>
      <vt:lpstr>Putting the “ology” in “biology”</vt:lpstr>
      <vt:lpstr>Parable of the Black Sheep</vt:lpstr>
      <vt:lpstr>Parable of the black sheep</vt:lpstr>
      <vt:lpstr>Parable of the black sheep</vt:lpstr>
      <vt:lpstr>Parable of the black sheep</vt:lpstr>
      <vt:lpstr>Science is not just about being nerdy and boring; science can be beautiful.</vt:lpstr>
      <vt:lpstr>Science is not just about being nerdy and boring; science can be beautiful.</vt:lpstr>
      <vt:lpstr>Scientific Method Terms</vt:lpstr>
      <vt:lpstr>Two Types of Data</vt:lpstr>
      <vt:lpstr>Qualitative vs. Quantitative</vt:lpstr>
      <vt:lpstr>Science</vt:lpstr>
      <vt:lpstr>Science</vt:lpstr>
      <vt:lpstr>Experimental Design</vt:lpstr>
      <vt:lpstr>Science</vt:lpstr>
      <vt:lpstr>Science</vt:lpstr>
      <vt:lpstr>Science</vt:lpstr>
      <vt:lpstr>Experiments</vt:lpstr>
      <vt:lpstr> That ~ 50% of the worlds population now lives in cities.  </vt:lpstr>
      <vt:lpstr>Some say that ~ 50% of population lives in cities.  Is this true here?</vt:lpstr>
      <vt:lpstr>Some say that ~ 50% of population lives in cities.  Is this true here?</vt:lpstr>
      <vt:lpstr>Some say that ~ 50% of population lives in cities. Is this true here?</vt:lpstr>
      <vt:lpstr>Reporting Scientific Work</vt:lpstr>
      <vt:lpstr>Next Time</vt:lpstr>
    </vt:vector>
  </TitlesOfParts>
  <Company>Tim O'Connell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O'Connell</dc:creator>
  <cp:lastModifiedBy>Mitchell Greer</cp:lastModifiedBy>
  <cp:revision>289</cp:revision>
  <cp:lastPrinted>2009-01-13T17:22:11Z</cp:lastPrinted>
  <dcterms:created xsi:type="dcterms:W3CDTF">2012-01-10T14:10:15Z</dcterms:created>
  <dcterms:modified xsi:type="dcterms:W3CDTF">2026-08-19T14:03:14Z</dcterms:modified>
</cp:coreProperties>
</file>